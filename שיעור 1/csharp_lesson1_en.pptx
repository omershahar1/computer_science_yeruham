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1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725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Programming in C#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 of programming, the Visual Studio environment, and writing your first code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Science | Grade 11 | First lesson - 3.5 hours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Intro - what is programming and an algorithm, programming languages, what is C#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The work environment - what is an IDE, meet Visual Studio, creating a project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Writing your first code - program structure, printing, comments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4: Variables, data types, user input and operators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5: Conditionals (if / switch)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6: Loops (while / do-while / for)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Throughout the lesson: lots of examples and exercises for practice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C1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Programming?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Programming?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means writing precise, clear instructions for a computer so it performs a task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computer does exactly what is written - not what you meant! Precision is critical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 you know (WhatsApp, Netflix, games, websites) is built from code someone wrote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programmer is someone who can translate a real-world problem into a language the computer understands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development process: Understand the problem  -&gt;  Plan (algorithm)  -&gt;  Write code  -&gt;  Test and fix (debug)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Algorithm?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algorithm is a finite, clear sequence of steps for solving a specific problem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examples: a cooking recipe, directions to a destination, furniture assembly instructions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of a good algorithm:</a:t>
            </a:r>
            <a:endParaRPr lang="en-US" sz="1600" dirty="0"/>
          </a:p>
          <a:p>
            <a:pPr algn="l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is well-defined and unambiguous (no room for interpretation)</a:t>
            </a:r>
            <a:endParaRPr lang="en-US" sz="1600" dirty="0"/>
          </a:p>
          <a:p>
            <a:pPr algn="l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finite number of steps - the algorithm must terminate</a:t>
            </a:r>
            <a:endParaRPr lang="en-US" sz="1600" dirty="0"/>
          </a:p>
          <a:p>
            <a:pPr algn="l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to the desired result in every case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finding the larger of two numbers A and B:  (1) Get A, B  (2) If A&gt;B print A, else print 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365760"/>
            <a:ext cx="9537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It Through (out loud, before touching a computer)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Write, in plain English, an algorithm for making a cup of coffee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Write an algorithm that decides which of three students is the tallest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Write an algorithm that decides whether a given number is even or odd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Try to find a case where your algorithm gets 'stuck' or is unclear - how would you fix it?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Languages - How Does the Computer Understand Us?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language (0s and 1s only) - the only language the processor understands directly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Low-level languages (like Assembly) - very close to hardware, hard for humans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languages (C#, Java, Python, C++...) - close to human language, easier to write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compiler translates the entire code into machine language in advance, before running it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interpreter translates and runs the code line by line while it runs (e.g. Python)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is a compiled language: the code is translated into an 'intermediate language' (IL) and runs on the .NET Runtime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C#?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('C-sharp') is a programming language developed by Microsoft, first released in 2000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an 'object oriented' language - we'll cover this in depth later in the year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on top of the .NET Framework / .NET platform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building:</a:t>
            </a:r>
            <a:endParaRPr lang="en-US" sz="1600" dirty="0"/>
          </a:p>
          <a:p>
            <a:pPr algn="l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applications, websites (ASP.NET), servers, and games (the Unity engine!)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'strongly typed' language - every variable must have a type defined in advance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language we'll study this year for the Computer Science matriculation exam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C1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Development Environment - Visual Studio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IDE?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= Integrated Development Environment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application that brings together all the tools a programmer needs for daily work:</a:t>
            </a:r>
            <a:endParaRPr lang="en-US" sz="1600" dirty="0"/>
          </a:p>
          <a:p>
            <a:pPr algn="l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code editor with colorful syntax highlighting</a:t>
            </a:r>
            <a:endParaRPr lang="en-US" sz="1600" dirty="0"/>
          </a:p>
          <a:p>
            <a:pPr algn="l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build tool - turns our code into a program that can actually run</a:t>
            </a:r>
            <a:endParaRPr lang="en-US" sz="1600" dirty="0"/>
          </a:p>
          <a:p>
            <a:pPr algn="l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debugger - helps step through code and find bugs</a:t>
            </a:r>
            <a:endParaRPr lang="en-US" sz="1600" dirty="0"/>
          </a:p>
          <a:p>
            <a:pPr algn="l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and project management, all in one place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Well-known examples: Visual Studio, Visual Studio Code, IntelliJ IDEA, PyCharm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course we'll use Visual Studio (don't confuse it with Visual Studio Code!)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to Know the Visual Studio Interface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Explorer - usually on the right, shows all the files in the project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Editor area - in the center of the screen - this is where you write your code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window - shows messages during build and run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List - a list of errors and warnings in the code (important to check before running!)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green Start button (▶) on the toolbar - runs the program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shortcuts:  F5 = run with debugger   |   Ctrl+F5 = run without debugger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365760"/>
            <a:ext cx="9537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New Project - Step by Step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Open Visual Studio and choose 'Create a new project'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Select the 'Console App (C#)' template - a simple, text-based console program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Give the project a name in English, with no spaces (e.g. MyFirstProject), and pick a save location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Choose the recommended (latest) .NET version and click Create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A file named Program.cs will open with some starter code - we'll break it down on the next slide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C1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Your First Code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Structure of a C# Program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3383280"/>
          </a:xfrm>
          <a:prstGeom prst="roundRect">
            <a:avLst>
              <a:gd name="adj" fmla="val 216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MyFirstProject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 Program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static void Main(string[] args)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Console.WriteLine("Hello, World!");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112745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System; - imports a basic toolbox of the language, so we can use things like Console</a:t>
            </a:r>
            <a:endParaRPr lang="en-US" sz="13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- a way to organize code, usually named after the project</a:t>
            </a:r>
            <a:endParaRPr lang="en-US" sz="13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Program - a class: in C# all code must live inside some class</a:t>
            </a:r>
            <a:endParaRPr lang="en-US" sz="13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void Main(...) - the main method! The entry point of every program - execution starts here</a:t>
            </a:r>
            <a:endParaRPr lang="en-US" sz="13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statement ends with a semicolon ; and blocks are wrapped in curly braces { 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Printing to the Screen: WriteLine and Write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2926080"/>
          </a:xfrm>
          <a:prstGeom prst="roundRect">
            <a:avLst>
              <a:gd name="adj" fmla="val 25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WriteLine - prints and moves to a new line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Console.WriteLine("Hello");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Console.WriteLine("World");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Hello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World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Write - prints without moving to a new line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Console.Write("Hello 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Console.Write("World");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Hello World   (on the same line)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112745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join several values in one print using + : Console.WriteLine("Age: " + age);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with string interpolation: Console.WriteLine($"Age: {age}");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in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line comment:   // this is a comment</a:t>
            </a:r>
            <a:endParaRPr lang="en-US" sz="18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comment (multiple lines):   /* this is a longer comment */</a:t>
            </a:r>
            <a:endParaRPr lang="en-US" sz="18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are never executed by the computer - they exist purely to explain things to humans</a:t>
            </a:r>
            <a:endParaRPr lang="en-US" sz="18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you! In a month you'll forget why you wrote something - a good comment saves time</a:t>
            </a:r>
            <a:endParaRPr lang="en-US" sz="18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clear comments is an important professional habit for every programmer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365760"/>
            <a:ext cx="9537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1 - Getting Familiar with Printing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Create a new project and print your full name to the screen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Print a sentence across 3 separate lines (3 calls to WriteLine)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Create a simple 'drawing' from characters - e.g. a triangle of asterisks (*) using several WriteLine calls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Use Write and WriteLine together to print a name and then an age on the exact same line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Add a comment at the top of the file with your name and today's date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C1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Types &amp; Input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Syntax: type name = value;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17;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You can declare without initializing, and assign later: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95;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Changing an existing variable: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18;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251960"/>
            <a:ext cx="11274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variable is a 'box' in the computer's memory that has a name, a type, and a value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variable name cannot start with a digit and cannot contain spaces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language is case-sensitive: age is completely different from Age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use clear English names, in camelCase style, like studentAge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Data Types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329184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3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3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361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whole number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5,  -12,  2024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double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decimal number (precise)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3.14,  -0.5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decimal number (less precise)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3.14f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single character (single quotes)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'A',  '5'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text string (double quotes)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"Hello"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true or false value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 / 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9204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string is always written with double quotes " " , while char uses single quotes ' '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 - Console.ReadLine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3200400"/>
          </a:xfrm>
          <a:prstGeom prst="roundRect">
            <a:avLst>
              <a:gd name="adj" fmla="val 2286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ReadLine always returns a string!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Console.Write("What is your name? 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name = Console.ReadLine();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 get a number - you must convert it: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Console.Write("How old are you? 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Convert.ToInt32(Console.ReadLine());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Console.WriteLine("Hello " + name + ", you are " + age);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112745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Console.ReadLine() reads a line of text the user typed and pressed Enter on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conversions: Convert.ToInt32(...) for integers, Convert.ToDouble(...) for decimals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365760"/>
            <a:ext cx="9537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2 - Variables and User Input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 program that asks for a name and age, and prints: "Hello [name], next year you'll be [age+1]"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 program that asks for two whole numbers and prints both their sum and their product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 program that asks for the radius of a circle and computes its area (use Math.PI and double)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 program that asks for a product price and a discount percentage, and prints the final price after the discount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Operators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 add        -   subtract        *   multiply        /   divide        %   modulo (remainder)</a:t>
            </a:r>
            <a:endParaRPr lang="en-US" sz="20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warning: dividing two ints returns an int only (rounded down)! For example: 7 / 2 = 3</a:t>
            </a:r>
            <a:endParaRPr lang="en-US" sz="20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a precise decimal result, at least one of the numbers must be a double: 7.0 / 2 = 3.5</a:t>
            </a:r>
            <a:endParaRPr lang="en-US" sz="20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% operator is very useful for checking evenness: num % 2 == 0 checks whether num is even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Operators Worth Knowing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Increment/decrement by 1:   age++;   is equivalent to:   age = age + 1;    (similarly age--;)</a:t>
            </a:r>
            <a:endParaRPr lang="en-US" sz="18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Shorthand assignment operators:   +=   -=   *=   /=   %=</a:t>
            </a:r>
            <a:endParaRPr lang="en-US" sz="18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example:   total += 10;   is equivalent to:   total = total + 10;</a:t>
            </a:r>
            <a:endParaRPr lang="en-US" sz="18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of operations: multiplication and division happen before addition and subtraction; use parentheses for clarity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365760"/>
            <a:ext cx="9537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3 - Calculations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 program that takes 3 grades and calculates their average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 program that takes a total number of seconds and prints how many minutes and seconds that is (hint: use / and %)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 program that takes an amount of money and calculates how many 200/100/50/20 bills are needed to pay it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 program that converts a temperature from Celsius to Fahrenheit using: F = C * 9/5 + 32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Casting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Implicit cast - automatic, no data loss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y = x;   // y = 5.0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Explicit cast - used when data could be lost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pi = 3.9;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(int)pi;   // i = 3   (truncated! not rounded)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ToString - converts any value into a string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num = 5;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 = num.ToString();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and Logical Operators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Comparison:   ==  equal to      !=  not equal to      &gt;   &lt;   &gt;=   &lt;=</a:t>
            </a:r>
            <a:endParaRPr lang="en-US" sz="19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Logical:   &amp;&amp;  AND      ||  OR      !   NOT</a:t>
            </a:r>
            <a:endParaRPr lang="en-US" sz="19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common mistake:   ==  is used for comparison,   =  (single) is used for assignment!</a:t>
            </a:r>
            <a:endParaRPr lang="en-US" sz="19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(age &gt;= 13) &amp;&amp; (age &lt;= 19)  checks whether the age is between 13 and 19 inclusive</a:t>
            </a:r>
            <a:endParaRPr lang="en-US" sz="19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(score &gt;= 55) || hasExemption  checks whether the student passed the test or has an exemption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365760"/>
            <a:ext cx="9537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4 - Boolean Expressions (on paper)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Write a boolean expression that checks whether age is between 13 and 19 (inclusive of both ends)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Write a boolean expression that checks whether a number is even and greater than 10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Write a boolean expression that checks whether a student passed: score of 55 or above, or has an exemption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Write an expression that checks whether a number is outside the range 0 to 100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C1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Statements</a:t>
            </a:r>
            <a:endParaRPr lang="en-US" sz="3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if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2377440"/>
          </a:xfrm>
          <a:prstGeom prst="roundRect">
            <a:avLst>
              <a:gd name="adj" fmla="val 307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17;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&gt;= 18)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Console.WriteLine("Adult");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886200"/>
            <a:ext cx="112745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condition inside the parentheses is true, the block in curly braces runs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condition is false, the block is skipped entirely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- else if - else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3383280"/>
          </a:xfrm>
          <a:prstGeom prst="roundRect">
            <a:avLst>
              <a:gd name="adj" fmla="val 216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grade = 85;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(grade &gt;= 90)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Console.WriteLine("Excellent (A)");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(grade &gt;= 80)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Console.WriteLine("Very good (B)");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(grade &gt;= 70)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Console.WriteLine("Good (C)");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Console.WriteLine("Failed");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112745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chain additional conditions with else if - they are checked one after another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else 'catches' every case that didn't match any of the earlier conditions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Conditions and Tips for Clean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place an if statement inside another if statement - this is called 'nesting'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nesting too deeply - it gets hard to read, and can often be simplified using &amp;&amp;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tip: keep curly braces { } matched and use consistent indentation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helps you here: click on one brace and it highlights its matching partner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switch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3383280"/>
          </a:xfrm>
          <a:prstGeom prst="roundRect">
            <a:avLst>
              <a:gd name="adj" fmla="val 216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day = 3;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(day)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1: Console.WriteLine("Sunday"); break;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2: Console.WriteLine("Monday"); break;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3: Console.WriteLine("Tuesday"); break;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Console.WriteLine("Invalid day");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112745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is convenient when checking one value against many fixed options (an alternative to long if-else chains)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case must end with break; - otherwise execution 'falls through' to the next case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- what happens if none of the cases matched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365760"/>
            <a:ext cx="9537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5 - Conditionals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 program that takes a grade and prints 'Pass' or 'Fail' (the passing grade is 55 or above)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 program that takes three numbers and prints the largest of the three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 simple calculator: takes two numbers and an operation (+,-,*,/) and performs it using switch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 program that takes a year and prints whether it's a leap year (hint: divisible by 4, but not by 100, unless also divisible by 400)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A 'movie entry check' program: based on age, prints 'Minor', 'Adult', or 'Needs parental guidance'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3C1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</a:t>
            </a:r>
            <a:endParaRPr lang="en-US" sz="3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Need Loops?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loop lets us repeat a piece of code multiple times, without copying it over and over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printing 'Hello' 100 times - without a loop we'd need 100 lines of code!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has three main types of loops:</a:t>
            </a:r>
            <a:endParaRPr lang="en-US" sz="1600" dirty="0"/>
          </a:p>
          <a:p>
            <a:pPr algn="l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- repeats as long as some condition holds</a:t>
            </a:r>
            <a:endParaRPr lang="en-US" sz="1600" dirty="0"/>
          </a:p>
          <a:p>
            <a:pPr algn="l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do-while - like while, but runs the body at least once</a:t>
            </a:r>
            <a:endParaRPr lang="en-US" sz="1600" dirty="0"/>
          </a:p>
          <a:p>
            <a:pPr algn="l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- convenient when you know in advance how many times to repeat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while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2834640"/>
          </a:xfrm>
          <a:prstGeom prst="roundRect">
            <a:avLst>
              <a:gd name="adj" fmla="val 258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&lt;= 5)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Console.WriteLine(i);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i++;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1 2 3 4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343400"/>
            <a:ext cx="112745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condition is checked before each iteration - if it's false from the start, the loop never runs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must make sure the condition eventually becomes false - otherwise you get an infinite loop!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do-while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num;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Console.Write("Enter a positive number: 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= Convert.ToInt32(Console.ReadLine());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(num &lt;= 0);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251960"/>
            <a:ext cx="11274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from while: the loop body runs once first, and only then is the condition checked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 you want the code to run at least once - for example, validating user 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3383280"/>
          </a:xfrm>
          <a:prstGeom prst="roundRect">
            <a:avLst>
              <a:gd name="adj" fmla="val 216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5; i++)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Console.WriteLine(i);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1 2 3 4 5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You can also count backwards: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10; i &gt; 0; i--)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Console.WriteLine(i);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112745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parts inside the parentheses: initialization ; condition ; update - separated by semicolons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convenient when you know exactly how many times you need to repeat the loop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365760"/>
            <a:ext cx="9537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6 - Loops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Print all the numbers from 1 to 20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Print all the even numbers between 1 and 50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Calculate and print the sum of all numbers from 1 to 100 (without using the famous formula!)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Print a full multiplication table (1 to 10) for a number chosen by the user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A program that counts how many numbers the user entered until they enter the number 0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Challenge: draw a right-angled triangle of asterisks (*) using two nested loops (a for loop inside a for loop)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Errors and How to Debug Them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error - e.g. a missing semicolon or mismatched parentheses; VS underlines it in red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error - e.g. dividing by zero, or invalid input passed to Convert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error - the program runs without crashing, but gives the wrong result - the hardest to find!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debugging tools in Visual Studio:</a:t>
            </a:r>
            <a:endParaRPr lang="en-US" sz="1600" dirty="0"/>
          </a:p>
          <a:p>
            <a:pPr algn="l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Breakpoint (F9) - pauses execution at a specific line for inspection</a:t>
            </a:r>
            <a:endParaRPr lang="en-US" sz="1600" dirty="0"/>
          </a:p>
          <a:p>
            <a:pPr algn="l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Over / Step Into (F10 / F11) - move through the code line by line while debugging</a:t>
            </a:r>
            <a:endParaRPr lang="en-US" sz="1600" dirty="0"/>
          </a:p>
          <a:p>
            <a:pPr algn="l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 / Watch windows - inspect the current values of variables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Summary - What Did We Learn Today?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programming and algorithms are, and how different programming languages compare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 IDE is, and a first look at Visual Studio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 structure of a C# program, printing to the screen, and adding comments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basic data types, user input, and type conversion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Arithmetic, comparison, and logical operators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statements: if / else if / else / switch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Loops: while, do-while, for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365760"/>
            <a:ext cx="9537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 - Comprehensive Practice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 'BMI calculator' program: takes weight (kg) and height (m), computes BMI and prints its category (underweight/normal/overweight) using if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 program that takes a whole number and determines whether it's prime (use a for loop and the modulo %)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 'guess the number' program: the computer 'picks' a fixed number in the code, and the user guesses repeatedly (do-while) until correct, getting a 'too high' / 'too low' hint each time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 program that prints a Celsius-to-Fahrenheit conversion table over a range, using a for loop</a:t>
            </a:r>
            <a:endParaRPr lang="en-US" sz="17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A menu-driven program: shows the user a menu of options (switch) inside a loop, until they choose 'Exit'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1 - Intro to Programming &amp; 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C1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Lesson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Arrays, Methods, and Further Practice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2026-09-05T15:08:49Z</dcterms:created>
  <dcterms:modified xsi:type="dcterms:W3CDTF">2026-09-05T15:08:49Z</dcterms:modified>
</cp:coreProperties>
</file>
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74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שני מפגשים בסיסיים – קודם משתנים וטיפוסים, אחר כך עבודה עם מחרוזות.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83506"/>
            <a:ext cx="10566400" cy="58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275036"/>
            <a:ext cx="10566400" cy="377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83506"/>
            <a:ext cx="10566400" cy="58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2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275036"/>
            <a:ext cx="10566400" cy="3770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205869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14290"/>
            <a:ext cx="10883392" cy="94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7260"/>
              </a:lnSpc>
              <a:buNone/>
            </a:pPr>
            <a:r>
              <a:rPr lang="en-US" sz="6600" b="1" i="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יסודות התכנות ב-C#‎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3615680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360"/>
              </a:lnSpc>
              <a:buNone/>
            </a:pPr>
            <a:r>
              <a:rPr lang="en-US" sz="2400" dirty="0" err="1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טיפוסים</a:t>
            </a:r>
            <a:r>
              <a:rPr lang="en-US" sz="2400" dirty="0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ומשתנים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169370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360"/>
              </a:lnSpc>
              <a:buNone/>
            </a:pPr>
            <a:r>
              <a:rPr lang="en-US" sz="2400" dirty="0" err="1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מחרוזות</a:t>
            </a:r>
            <a:r>
              <a:rPr lang="en-US" sz="2400" dirty="0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ופעולות עליהן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 err="1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מושגי</a:t>
            </a:r>
            <a:r>
              <a:rPr lang="en-US" sz="18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יסוד בתכנות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868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טיפוסים בסיסיים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9150" y="2233910"/>
            <a:ext cx="3373934" cy="2379911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47751" y="2545060"/>
            <a:ext cx="2834183" cy="807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B4501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30300" y="3454350"/>
            <a:ext cx="283418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מספר שלם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47751" y="3947071"/>
            <a:ext cx="28341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2800"/>
              </a:lnSpc>
              <a:buNone/>
            </a:pPr>
            <a:r>
              <a:rPr lang="en-US" sz="2000" dirty="0">
                <a:solidFill>
                  <a:srgbClr val="12263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42, -7, 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08984" y="2233910"/>
            <a:ext cx="3373983" cy="2379911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637583" y="2545060"/>
            <a:ext cx="2834234" cy="807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B4501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double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20134" y="3454350"/>
            <a:ext cx="283423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מספר עשרוני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7583" y="3947071"/>
            <a:ext cx="28342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2800"/>
              </a:lnSpc>
              <a:buNone/>
            </a:pPr>
            <a:r>
              <a:rPr lang="en-US" sz="2000" dirty="0">
                <a:solidFill>
                  <a:srgbClr val="12263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3.14, -0.5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98867" y="2233910"/>
            <a:ext cx="3373983" cy="2379911"/>
          </a:xfrm>
          <a:prstGeom prst="roundRect">
            <a:avLst>
              <a:gd name="adj" fmla="val 6137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227466" y="2545060"/>
            <a:ext cx="2834234" cy="807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B4501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char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10017" y="3454350"/>
            <a:ext cx="283423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תו בודד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7466" y="3947071"/>
            <a:ext cx="28342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2800"/>
              </a:lnSpc>
              <a:buNone/>
            </a:pPr>
            <a:r>
              <a:rPr lang="en-US" sz="2000" dirty="0">
                <a:solidFill>
                  <a:srgbClr val="12263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'A', '7', '#'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 err="1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מושגי</a:t>
            </a:r>
            <a:r>
              <a:rPr lang="en-US" sz="1800" b="1" dirty="0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יסוד בתכנות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614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הצהרה, קריאה והדפסה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2176760"/>
            <a:ext cx="10566400" cy="2753122"/>
          </a:xfrm>
          <a:prstGeom prst="roundRect">
            <a:avLst>
              <a:gd name="adj" fmla="val 5536"/>
            </a:avLst>
          </a:prstGeom>
          <a:solidFill>
            <a:srgbClr val="0B1623"/>
          </a:solidFill>
          <a:ln/>
        </p:spPr>
        <p:txBody>
          <a:bodyPr wrap="square" lIns="310964" tIns="234764" rIns="15308" bIns="209364" rtlCol="0" anchor="t">
            <a:normAutofit/>
          </a:bodyPr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 age = 16;</a:t>
            </a:r>
            <a:endParaRPr lang="en-US" sz="1800" dirty="0"/>
          </a:p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double price = 4.5;</a:t>
            </a:r>
            <a:endParaRPr lang="en-US" sz="1800" dirty="0"/>
          </a:p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char grade = 'A';</a:t>
            </a:r>
            <a:endParaRPr lang="en-US" sz="1800" dirty="0"/>
          </a:p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Console.Write("Enter a number: ");</a:t>
            </a:r>
            <a:endParaRPr lang="en-US" sz="1800" dirty="0"/>
          </a:p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 num = int.Parse(Console.ReadLine());</a:t>
            </a:r>
            <a:endParaRPr lang="en-US" sz="1800" dirty="0"/>
          </a:p>
          <a:p>
            <a:pPr marL="0" indent="0" algn="r" rtl="1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Console.WriteLine("You entered: " + num);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158482"/>
            <a:ext cx="3386634" cy="657820"/>
          </a:xfrm>
          <a:prstGeom prst="roundRect">
            <a:avLst>
              <a:gd name="adj" fmla="val 19306"/>
            </a:avLst>
          </a:prstGeom>
          <a:solidFill>
            <a:srgbClr val="1B3550"/>
          </a:solidFill>
          <a:ln/>
        </p:spPr>
        <p:txBody>
          <a:bodyPr wrap="square" lIns="191403" tIns="140603" rIns="103520" bIns="115203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הצהרה: טיפוס, שם וערך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02634" y="5158482"/>
            <a:ext cx="3386683" cy="657820"/>
          </a:xfrm>
          <a:prstGeom prst="roundRect">
            <a:avLst>
              <a:gd name="adj" fmla="val 19306"/>
            </a:avLst>
          </a:prstGeom>
          <a:solidFill>
            <a:srgbClr val="1B3550"/>
          </a:solidFill>
          <a:ln/>
        </p:spPr>
        <p:txBody>
          <a:bodyPr wrap="square" lIns="191403" tIns="140603" rIns="103518" bIns="115203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קריאה: ReadLine ואחריו Parse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92517" y="5158482"/>
            <a:ext cx="3386683" cy="657820"/>
          </a:xfrm>
          <a:prstGeom prst="roundRect">
            <a:avLst>
              <a:gd name="adj" fmla="val 19306"/>
            </a:avLst>
          </a:prstGeom>
          <a:solidFill>
            <a:srgbClr val="1B3550"/>
          </a:solidFill>
          <a:ln/>
        </p:spPr>
        <p:txBody>
          <a:bodyPr wrap="square" lIns="191403" tIns="140603" rIns="103518" bIns="115203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הדפסה: Write ו-WriteLine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 err="1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תרגיל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122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משתנים, קלט והדפסה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9150" y="2284710"/>
            <a:ext cx="10553700" cy="1739900"/>
          </a:xfrm>
          <a:prstGeom prst="roundRect">
            <a:avLst>
              <a:gd name="adj" fmla="val 839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81100" y="2646660"/>
            <a:ext cx="101246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300"/>
              </a:lnSpc>
              <a:buNone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א. קלטו שני מספרים שלמים והדפיסו את סכומם ואת ממוצעם.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1100" y="3243560"/>
            <a:ext cx="101246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300"/>
              </a:lnSpc>
              <a:buNone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ב. הצהירו על משתנה מטיפוס char, אתחלו אותו באות והדפיסו אותו.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31036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רמז: הממוצע עשוי להיות לא שלם, לכן באיזה טיפוס נשתמש?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38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473"/>
              </a:lnSpc>
              <a:buNone/>
            </a:pPr>
            <a:r>
              <a:rPr lang="he-IL" sz="1766" b="1" dirty="0">
                <a:solidFill>
                  <a:srgbClr val="F2B27A"/>
                </a:solidFill>
                <a:latin typeface="Heebo" pitchFamily="34" charset="0"/>
                <a:cs typeface="Heebo" pitchFamily="34" charset="-120"/>
              </a:rPr>
              <a:t>פתרון</a:t>
            </a:r>
            <a:endParaRPr lang="en-US" sz="1766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80182"/>
            <a:ext cx="10883392" cy="599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4519"/>
              </a:lnSpc>
              <a:buNone/>
            </a:pPr>
            <a:r>
              <a:rPr lang="en-US" sz="4108" b="1" i="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משתנים, קלט והדפסה</a:t>
            </a:r>
            <a:endParaRPr lang="en-US" sz="4108" dirty="0"/>
          </a:p>
        </p:txBody>
      </p:sp>
      <p:sp>
        <p:nvSpPr>
          <p:cNvPr id="4" name="Text 2"/>
          <p:cNvSpPr/>
          <p:nvPr/>
        </p:nvSpPr>
        <p:spPr>
          <a:xfrm>
            <a:off x="812800" y="2208709"/>
            <a:ext cx="10566400" cy="3065909"/>
          </a:xfrm>
          <a:prstGeom prst="roundRect">
            <a:avLst>
              <a:gd name="adj" fmla="val 4971"/>
            </a:avLst>
          </a:prstGeom>
          <a:solidFill>
            <a:srgbClr val="0B1623"/>
          </a:solidFill>
          <a:ln/>
        </p:spPr>
        <p:txBody>
          <a:bodyPr wrap="square" lIns="310964" tIns="234764" rIns="15308" bIns="209364" rtlCol="0" anchor="t">
            <a:normAutofit/>
          </a:bodyPr>
          <a:lstStyle/>
          <a:p>
            <a:pPr marL="0" indent="0" algn="r">
              <a:lnSpc>
                <a:spcPts val="2817"/>
              </a:lnSpc>
              <a:buNone/>
            </a:pPr>
            <a:r>
              <a:rPr lang="en-US" sz="1761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 a = int.Parse(Console.ReadLine());</a:t>
            </a:r>
            <a:endParaRPr lang="en-US" sz="1761" dirty="0"/>
          </a:p>
          <a:p>
            <a:pPr marL="0" indent="0" algn="r">
              <a:lnSpc>
                <a:spcPts val="2817"/>
              </a:lnSpc>
              <a:buNone/>
            </a:pPr>
            <a:r>
              <a:rPr lang="en-US" sz="1761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int b = int.Parse(Console.ReadLine());</a:t>
            </a:r>
            <a:endParaRPr lang="en-US" sz="1761" dirty="0"/>
          </a:p>
          <a:p>
            <a:pPr marL="0" indent="0" algn="r">
              <a:lnSpc>
                <a:spcPts val="2817"/>
              </a:lnSpc>
              <a:buNone/>
            </a:pPr>
            <a:r>
              <a:rPr lang="en-US" sz="1761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Console.WriteLine("Sum: " + (a + b));</a:t>
            </a:r>
            <a:endParaRPr lang="en-US" sz="1761" dirty="0"/>
          </a:p>
          <a:p>
            <a:pPr marL="0" indent="0" algn="r">
              <a:lnSpc>
                <a:spcPts val="2817"/>
              </a:lnSpc>
              <a:buNone/>
            </a:pPr>
            <a:r>
              <a:rPr lang="en-US" sz="1761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Console.WriteLine("Average: " + (a + b) / 2.0);</a:t>
            </a:r>
            <a:endParaRPr lang="en-US" sz="1761" dirty="0"/>
          </a:p>
          <a:p>
            <a:pPr marL="0" indent="0" algn="r">
              <a:lnSpc>
                <a:spcPts val="2817"/>
              </a:lnSpc>
              <a:buNone/>
            </a:pPr>
            <a:endParaRPr lang="en-US" sz="1761" dirty="0"/>
          </a:p>
          <a:p>
            <a:pPr marL="0" indent="0" algn="r">
              <a:lnSpc>
                <a:spcPts val="2817"/>
              </a:lnSpc>
              <a:buNone/>
            </a:pPr>
            <a:r>
              <a:rPr lang="en-US" sz="1761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char letter = 'D';</a:t>
            </a:r>
            <a:endParaRPr lang="en-US" sz="1761" dirty="0"/>
          </a:p>
          <a:p>
            <a:pPr marL="0" indent="0" algn="r">
              <a:lnSpc>
                <a:spcPts val="2817"/>
              </a:lnSpc>
              <a:buNone/>
            </a:pPr>
            <a:r>
              <a:rPr lang="en-US" sz="1761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Console.WriteLine(letter);</a:t>
            </a:r>
            <a:endParaRPr lang="en-US" sz="1761" dirty="0"/>
          </a:p>
        </p:txBody>
      </p:sp>
      <p:sp>
        <p:nvSpPr>
          <p:cNvPr id="5" name="Text 3"/>
          <p:cNvSpPr/>
          <p:nvPr/>
        </p:nvSpPr>
        <p:spPr>
          <a:xfrm>
            <a:off x="812800" y="5528618"/>
            <a:ext cx="10883392" cy="338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473"/>
              </a:lnSpc>
              <a:buNone/>
            </a:pPr>
            <a:endParaRPr lang="en-US" sz="1766" dirty="0"/>
          </a:p>
        </p:txBody>
      </p:sp>
      <p:sp>
        <p:nvSpPr>
          <p:cNvPr id="6" name="Text 4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 err="1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מחרוזות</a:t>
            </a:r>
            <a:r>
              <a:rPr lang="en-US" sz="18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ופעולות עליהן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868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מחרוזת היא רצף של תווים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2227560"/>
            <a:ext cx="10566400" cy="797520"/>
          </a:xfrm>
          <a:prstGeom prst="roundRect">
            <a:avLst>
              <a:gd name="adj" fmla="val 15924"/>
            </a:avLst>
          </a:prstGeom>
          <a:solidFill>
            <a:srgbClr val="12263A"/>
          </a:solidFill>
          <a:ln/>
        </p:spPr>
        <p:txBody>
          <a:bodyPr wrap="square" lIns="318403" tIns="166003" rIns="22747" bIns="140603" rtlCol="0" anchor="t">
            <a:normAutofit/>
          </a:bodyPr>
          <a:lstStyle/>
          <a:p>
            <a:pPr marL="0" indent="0" algn="r" rtl="1">
              <a:lnSpc>
                <a:spcPts val="308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string s = "Hello";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9150" y="3285430"/>
            <a:ext cx="3373934" cy="2191941"/>
          </a:xfrm>
          <a:prstGeom prst="roundRect">
            <a:avLst>
              <a:gd name="adj" fmla="val 666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104900" y="3571180"/>
            <a:ext cx="288650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אורך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827" y="4033441"/>
            <a:ext cx="288650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s.Length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4900" y="4551561"/>
            <a:ext cx="288650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התוצאה: 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08984" y="3285430"/>
            <a:ext cx="3373983" cy="2191941"/>
          </a:xfrm>
          <a:prstGeom prst="roundRect">
            <a:avLst>
              <a:gd name="adj" fmla="val 666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694734" y="3571180"/>
            <a:ext cx="288655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גישה לתו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0659" y="4033441"/>
            <a:ext cx="288655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s[0]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94734" y="4551561"/>
            <a:ext cx="288655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התוצאה: H. האינדקס הראשון הוא 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998867" y="3285430"/>
            <a:ext cx="3373983" cy="2191941"/>
          </a:xfrm>
          <a:prstGeom prst="roundRect">
            <a:avLst>
              <a:gd name="adj" fmla="val 666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84617" y="3571180"/>
            <a:ext cx="288655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אי-שינוי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84617" y="4033441"/>
            <a:ext cx="288655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מחרוזת לא משתנה במקום. כל פעולה מחזירה מחרוזת חדשה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 err="1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מחרוזות</a:t>
            </a:r>
            <a:r>
              <a:rPr lang="en-US" sz="1800" b="1" dirty="0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ופעולות עליהן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868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חיתוך, חיבור וחיפוש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95808" y="222756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 rtl="1">
              <a:lnSpc>
                <a:spcPts val="2800"/>
              </a:lnSpc>
              <a:buNone/>
            </a:pPr>
            <a:r>
              <a:rPr lang="en-US" sz="2000" dirty="0">
                <a:solidFill>
                  <a:srgbClr val="9FB3C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string s = "Hello World";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2837160"/>
            <a:ext cx="3386634" cy="1833761"/>
          </a:xfrm>
          <a:prstGeom prst="roundRect">
            <a:avLst>
              <a:gd name="adj" fmla="val 8311"/>
            </a:avLst>
          </a:prstGeom>
          <a:solidFill>
            <a:srgbClr val="1B3550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92200" y="3116560"/>
            <a:ext cx="291266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חיתוך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2200" y="3634680"/>
            <a:ext cx="291266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s.Substring(0, 5)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2200" y="4089301"/>
            <a:ext cx="291266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2B27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"Hello"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02634" y="2837160"/>
            <a:ext cx="3386683" cy="1833761"/>
          </a:xfrm>
          <a:prstGeom prst="roundRect">
            <a:avLst>
              <a:gd name="adj" fmla="val 8311"/>
            </a:avLst>
          </a:prstGeom>
          <a:solidFill>
            <a:srgbClr val="1B3550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682034" y="3116560"/>
            <a:ext cx="291272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חיבור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82034" y="3634680"/>
            <a:ext cx="291272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 + "!"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82034" y="4089301"/>
            <a:ext cx="291272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2B27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"Hello World!"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992517" y="2837160"/>
            <a:ext cx="3386683" cy="1833761"/>
          </a:xfrm>
          <a:prstGeom prst="roundRect">
            <a:avLst>
              <a:gd name="adj" fmla="val 8311"/>
            </a:avLst>
          </a:prstGeom>
          <a:solidFill>
            <a:srgbClr val="1B3550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71917" y="3116560"/>
            <a:ext cx="291272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חיפוש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71917" y="3634680"/>
            <a:ext cx="291272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s.IndexOf('W')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71917" y="4089301"/>
            <a:ext cx="291272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2B27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6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 err="1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תרגיל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122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חיתוך, חיבור וחיפוש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9150" y="2284710"/>
            <a:ext cx="10553700" cy="299720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81100" y="2646660"/>
            <a:ext cx="1012469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300"/>
              </a:lnSpc>
              <a:buNone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מילה בת שלושה תווים לפחות והדפיסו: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3386" y="3243560"/>
            <a:ext cx="10114788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את אורכה ואת התו הראשון בה</a:t>
            </a:r>
            <a:endParaRPr lang="en-US" sz="2200" dirty="0"/>
          </a:p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את שלושת התווים הראשונים שלה</a:t>
            </a:r>
            <a:endParaRPr lang="en-US" sz="2200" dirty="0"/>
          </a:p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את המילה ואחריה סימן קריאה</a:t>
            </a:r>
            <a:endParaRPr lang="en-US" sz="2200" dirty="0"/>
          </a:p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את מיקומו של התו 'a' בה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r>
              <a:rPr lang="en-US" sz="1800" b="1" dirty="0" err="1">
                <a:solidFill>
                  <a:srgbClr val="F2B27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פתרון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868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3E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חיתוך, חיבור וחיפוש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2227560"/>
            <a:ext cx="10566400" cy="2753122"/>
          </a:xfrm>
          <a:prstGeom prst="roundRect">
            <a:avLst>
              <a:gd name="adj" fmla="val 5536"/>
            </a:avLst>
          </a:prstGeom>
          <a:solidFill>
            <a:srgbClr val="0B1623"/>
          </a:solidFill>
          <a:ln/>
        </p:spPr>
        <p:txBody>
          <a:bodyPr wrap="square" lIns="310964" tIns="234764" rIns="15308" bIns="209364" rtlCol="0" anchor="t">
            <a:normAutofit/>
          </a:bodyPr>
          <a:lstStyle/>
          <a:p>
            <a:pPr marL="0" indent="0" algn="r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string w = Console.ReadLine();</a:t>
            </a:r>
            <a:endParaRPr lang="en-US" sz="1800" dirty="0"/>
          </a:p>
          <a:p>
            <a:pPr marL="0" indent="0" algn="r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Console.WriteLine(w.Length);</a:t>
            </a:r>
            <a:endParaRPr lang="en-US" sz="1800" dirty="0"/>
          </a:p>
          <a:p>
            <a:pPr marL="0" indent="0" algn="r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Console.WriteLine(w[0]);</a:t>
            </a:r>
            <a:endParaRPr lang="en-US" sz="1800" dirty="0"/>
          </a:p>
          <a:p>
            <a:pPr marL="0" indent="0" algn="r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Console.WriteLine(w.Substring(0, 3));</a:t>
            </a:r>
            <a:endParaRPr lang="en-US" sz="1800" dirty="0"/>
          </a:p>
          <a:p>
            <a:pPr marL="0" indent="0" algn="r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Console.WriteLine(w + "!");</a:t>
            </a:r>
            <a:endParaRPr lang="en-US" sz="1800" dirty="0"/>
          </a:p>
          <a:p>
            <a:pPr marL="0" indent="0" algn="r">
              <a:lnSpc>
                <a:spcPts val="288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Console.WriteLine(w.IndexOf('a'));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234682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תרגולים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19150" y="1710680"/>
            <a:ext cx="5143500" cy="3053060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 dirty="0"/>
          </a:p>
        </p:txBody>
      </p:sp>
      <p:sp>
        <p:nvSpPr>
          <p:cNvPr id="4" name="Text 2"/>
          <p:cNvSpPr/>
          <p:nvPr/>
        </p:nvSpPr>
        <p:spPr>
          <a:xfrm>
            <a:off x="1181100" y="2072630"/>
            <a:ext cx="455218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1100" y="2570460"/>
            <a:ext cx="4552188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משתנים וקלט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3386" y="3144490"/>
            <a:ext cx="454228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הצהרת משתנים</a:t>
            </a:r>
            <a:endParaRPr lang="en-US" sz="2200" dirty="0"/>
          </a:p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קריאה</a:t>
            </a:r>
            <a:endParaRPr lang="en-US" sz="2200" dirty="0"/>
          </a:p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הדפסה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29350" y="1710680"/>
            <a:ext cx="5143500" cy="3053060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591300" y="2570460"/>
            <a:ext cx="4552188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עבודה עם מחרוזות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93586" y="3144490"/>
            <a:ext cx="454228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חיתוך מחרוזת</a:t>
            </a:r>
            <a:endParaRPr lang="en-US" sz="2200" dirty="0"/>
          </a:p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חיבור מחרוזות</a:t>
            </a:r>
            <a:endParaRPr lang="en-US" sz="2200" dirty="0"/>
          </a:p>
          <a:p>
            <a:pPr marL="251714" indent="-251714" algn="r" rtl="1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חיפוש תווים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8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תרגילים לעבודה עצמית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12800" y="1678930"/>
            <a:ext cx="5156200" cy="2937470"/>
          </a:xfrm>
          <a:prstGeom prst="roundRect">
            <a:avLst>
              <a:gd name="adj" fmla="val 5188"/>
            </a:avLst>
          </a:prstGeom>
          <a:solidFill>
            <a:srgbClr val="F6F3EE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12341" y="2501850"/>
            <a:ext cx="4680637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9259" indent="-259259" algn="r" rtl="1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הצהירו על משתנים מטיפוס int, double ו-char והדפיסו כל אחד בשורה נפרדת.</a:t>
            </a:r>
            <a:endParaRPr lang="en-US" sz="1900" dirty="0"/>
          </a:p>
          <a:p>
            <a:pPr marL="259259" indent="-259259" algn="r" rtl="1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רדיוס והדפיסו את היקף המעגל.</a:t>
            </a:r>
            <a:endParaRPr lang="en-US" sz="1900" dirty="0"/>
          </a:p>
          <a:p>
            <a:pPr marL="259259" indent="-259259" algn="r" rtl="1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שני מספרים שלמים והדפיסו את מכפלתם.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23000" y="1678930"/>
            <a:ext cx="5156200" cy="2937470"/>
          </a:xfrm>
          <a:prstGeom prst="roundRect">
            <a:avLst>
              <a:gd name="adj" fmla="val 5188"/>
            </a:avLst>
          </a:prstGeom>
          <a:solidFill>
            <a:srgbClr val="F6F3EE"/>
          </a:solidFill>
          <a:ln/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522541" y="2501850"/>
            <a:ext cx="4680637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9259" indent="-259259" algn="r" rtl="1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מילה והדפיסו את התו האחרון שלה.</a:t>
            </a:r>
            <a:endParaRPr lang="en-US" sz="1900" dirty="0"/>
          </a:p>
          <a:p>
            <a:pPr marL="259259" indent="-259259" algn="r" rtl="1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שם פרטי ושם משפחה וחברו אותם למחרוזת אחת עם רווח ביניהם.</a:t>
            </a:r>
            <a:endParaRPr lang="en-US" sz="1900" dirty="0"/>
          </a:p>
          <a:p>
            <a:pPr marL="259259" indent="-259259" algn="r" rtl="1">
              <a:lnSpc>
                <a:spcPts val="2850"/>
              </a:lnSpc>
              <a:buSzPct val="100000"/>
              <a:buFontTx/>
              <a:buAutoNum type="arabicPeriod"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משפט והדפיסו את המיקום הראשון של התו 'e' בו.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תרגילים מתקדמים – חלק א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122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חיתוך וחיפוש בשילוב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9150" y="2284710"/>
            <a:ext cx="5143500" cy="2980680"/>
          </a:xfrm>
          <a:prstGeom prst="roundRect">
            <a:avLst>
              <a:gd name="adj" fmla="val 490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30300" y="2595860"/>
            <a:ext cx="4656836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120"/>
              </a:lnSpc>
              <a:buNone/>
            </a:pPr>
            <a:r>
              <a:rPr lang="he-IL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 </a:t>
            </a:r>
            <a:r>
              <a:rPr lang="en-US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היפוך שם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30300" y="3144490"/>
            <a:ext cx="4656836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שם מלא: שם פרטי, רווח, שם משפחה. מצאו את מיקום הרווח, חתכו את שני השמות והדפיסו אותם בסדר הפוך, עם פסיק ביניהם.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29350" y="2284710"/>
            <a:ext cx="5143500" cy="2980680"/>
          </a:xfrm>
          <a:prstGeom prst="roundRect">
            <a:avLst>
              <a:gd name="adj" fmla="val 4900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540500" y="2595860"/>
            <a:ext cx="4656836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120"/>
              </a:lnSpc>
              <a:buNone/>
            </a:pPr>
            <a:r>
              <a:rPr lang="he-IL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2. </a:t>
            </a:r>
            <a:r>
              <a:rPr lang="en-US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פענוח תאריך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40500" y="3144490"/>
            <a:ext cx="4656836" cy="183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תאריך כמחרוזת בפורמט יום, לוכסן, חודש, לוכסן, שנה. מצאו את שני הלוכסנים, חתכו את שלושת החלקים, המירו אותם למספרים שלמים והדפיסו את הגיל בשנים לפי השנה 2026.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תרגילים מתקדמים – חלק ב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412230"/>
            <a:ext cx="10883392" cy="61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מחרוזות ומספרים בשילוב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9150" y="2284710"/>
            <a:ext cx="5143500" cy="3418830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30300" y="2595860"/>
            <a:ext cx="4656836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120"/>
              </a:lnSpc>
              <a:buNone/>
            </a:pPr>
            <a:r>
              <a:rPr lang="he-IL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3. </a:t>
            </a:r>
            <a:r>
              <a:rPr lang="en-US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סכום ספרות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30300" y="3144490"/>
            <a:ext cx="4656836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מספר בן ארבע ספרות כמחרוזת. המירו כל ספרה בנפרד למספר שלם והדפיסו את סכום הספרות ואת מכפלתן.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29350" y="2284710"/>
            <a:ext cx="5143500" cy="3418830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</p:spPr>
        <p:txBody>
          <a:bodyPr/>
          <a:lstStyle/>
          <a:p>
            <a:pPr algn="r" rtl="1"/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540500" y="2595860"/>
            <a:ext cx="4656836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3120"/>
              </a:lnSpc>
              <a:buNone/>
            </a:pPr>
            <a:r>
              <a:rPr lang="he-IL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4. </a:t>
            </a:r>
            <a:r>
              <a:rPr lang="en-US" sz="2600" b="1" dirty="0" err="1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ראשון</a:t>
            </a:r>
            <a:r>
              <a:rPr lang="en-US" sz="2600" b="1" dirty="0">
                <a:solidFill>
                  <a:srgbClr val="B4501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ואחרון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40500" y="3144490"/>
            <a:ext cx="465683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850"/>
              </a:lnSpc>
              <a:buNone/>
            </a:pPr>
            <a:r>
              <a:rPr lang="en-US" sz="1900" dirty="0">
                <a:solidFill>
                  <a:srgbClr val="12263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קלטו משפט בן שלוש מילים לפחות, כשבין כל שתי מילים רווח אחד. הדפיסו את המילה הראשונה, את המילה האחרונה ואת אורכה של כל אחת מהן.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40500" y="4744690"/>
            <a:ext cx="4656836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2550"/>
              </a:lnSpc>
              <a:buNone/>
            </a:pPr>
            <a:r>
              <a:rPr lang="en-US" sz="17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רמז: חפשו את הרווח הראשון ואת הרווח האחרון במשפט.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64200" y="6202710"/>
            <a:ext cx="58864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ts val="1960"/>
              </a:lnSpc>
              <a:buNone/>
            </a:pPr>
            <a:r>
              <a:rPr lang="en-US" sz="1400" dirty="0">
                <a:solidFill>
                  <a:srgbClr val="5C646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מדעי המחשב · כיתה י״א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מצגת C# – מפגשים 2 ו-3">
  <a:themeElements>
    <a:clrScheme name="מצגת C# – מפגשים 2 ו-3">
      <a:dk1>
        <a:srgbClr val="12263A"/>
      </a:dk1>
      <a:lt1>
        <a:srgbClr val="F6F3EE"/>
      </a:lt1>
      <a:dk2>
        <a:srgbClr val="293B4C"/>
      </a:dk2>
      <a:lt2>
        <a:srgbClr val="BDC0C1"/>
      </a:lt2>
      <a:accent1>
        <a:srgbClr val="F2B27A"/>
      </a:accent1>
      <a:accent2>
        <a:srgbClr val="B4501A"/>
      </a:accent2>
      <a:accent3>
        <a:srgbClr val="9FB3C8"/>
      </a:accent3>
      <a:accent4>
        <a:srgbClr val="E8833A"/>
      </a:accent4>
      <a:accent5>
        <a:srgbClr val="5C646C"/>
      </a:accent5>
      <a:accent6>
        <a:srgbClr val="9AA0A6"/>
      </a:accent6>
      <a:hlink>
        <a:srgbClr val="0563C1"/>
      </a:hlink>
      <a:folHlink>
        <a:srgbClr val="954F72"/>
      </a:folHlink>
    </a:clrScheme>
    <a:fontScheme name="מצגת C# – מפגשים 2 ו-3">
      <a:majorFont>
        <a:latin typeface="Heeb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eb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758</Words>
  <Application>Microsoft Office PowerPoint</Application>
  <PresentationFormat>מסך רחב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7" baseType="lpstr">
      <vt:lpstr>Arial</vt:lpstr>
      <vt:lpstr>Consolas</vt:lpstr>
      <vt:lpstr>Heebo</vt:lpstr>
      <vt:lpstr>מצגת C# – מפגשים 2 ו-3</vt:lpstr>
      <vt:lpstr>יסודות התכנות ב-C#‎</vt:lpstr>
      <vt:lpstr>טיפוסים בסיסיים</vt:lpstr>
      <vt:lpstr>הצהרה, קריאה והדפסה</vt:lpstr>
      <vt:lpstr>משתנים, קלט והדפסה</vt:lpstr>
      <vt:lpstr>משתנים, קלט והדפסה</vt:lpstr>
      <vt:lpstr>מחרוזת היא רצף של תווים</vt:lpstr>
      <vt:lpstr>חיתוך, חיבור וחיפוש</vt:lpstr>
      <vt:lpstr>חיתוך, חיבור וחיפוש</vt:lpstr>
      <vt:lpstr>חיתוך, חיבור וחיפוש</vt:lpstr>
      <vt:lpstr>תרגולים</vt:lpstr>
      <vt:lpstr>תרגילים לעבודה עצמית</vt:lpstr>
      <vt:lpstr>חיתוך וחיפוש בשילוב</vt:lpstr>
      <vt:lpstr>מחרוזות ומספרים בשילוב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C# – מפגשים 2 ו-3</dc:title>
  <dc:subject/>
  <dc:creator/>
  <cp:lastModifiedBy>Omer Shahar</cp:lastModifiedBy>
  <cp:revision>2</cp:revision>
  <dcterms:created xsi:type="dcterms:W3CDTF">2026-10-03T05:54:24Z</dcterms:created>
  <dcterms:modified xsi:type="dcterms:W3CDTF">2026-10-03T06:05:11Z</dcterms:modified>
</cp:coreProperties>
</file>